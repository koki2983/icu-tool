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61002f38-847a-f2a3-4f6c-d854e9aa72f1}">
          <p14:sldIdLst>
            <p14:sldId id="256"/>
            <p14:sldId id="257"/>
            <p14:sldId id="258"/>
          </p14:sldIdLst>
        </p14:section>
        <p14:section name="方法" id="{e63dc0c0-0822-44cf-76c4-f953ff7e14ea}">
          <p14:sldIdLst>
            <p14:sldId id="259"/>
            <p14:sldId id="260"/>
            <p14:sldId id="261"/>
          </p14:sldIdLst>
        </p14:section>
        <p14:section name="結果" id="{c67d1527-acb8-780d-ebf9-dc1851cf8b03}">
          <p14:sldIdLst>
            <p14:sldId id="262"/>
            <p14:sldId id="263"/>
            <p14:sldId id="264"/>
          </p14:sldIdLst>
        </p14:section>
        <p14:section name="考察" id="{6c0cbeed-715c-5c1a-c439-0a48181542d1}">
          <p14:sldIdLst>
            <p14:sldId id="265"/>
            <p14:sldId id="266"/>
          </p14:sldIdLst>
        </p14:section>
        <p14:section name="結論" id="{efa9484d-ae16-b129-6536-17f28d6f885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414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414C"/>
                </a:solidFill>
                <a:latin typeface="+mn-lt"/>
              </a:rPr>
              <a:t>使った頻度（n＝26・仮）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ほぼ毎勤務</c:v>
                  </c:pt>
                  <c:pt idx="1">
                    <c:v>週 2〜3 回</c:v>
                  </c:pt>
                  <c:pt idx="2">
                    <c:v>週 1 回</c:v>
                  </c:pt>
                  <c:pt idx="3">
                    <c:v>数回だけ</c:v>
                  </c:pt>
                  <c:pt idx="4">
                    <c:v>使わなかった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9</c:v>
                </c:pt>
                <c:pt idx="2">
                  <c:v>4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A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414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414C"/>
                </a:solidFill>
                <a:latin typeface="+mn-lt"/>
              </a:rPr>
              <a:t>よく使った機能（複数回答・仮）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rgbClr val="E0A0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γ 計算</c:v>
                  </c:pt>
                  <c:pt idx="1">
                    <c:v>配合変化</c:v>
                  </c:pt>
                  <c:pt idx="2">
                    <c:v>知識メモ</c:v>
                  </c:pt>
                  <c:pt idx="3">
                    <c:v>スコア</c:v>
                  </c:pt>
                  <c:pt idx="4">
                    <c:v>P/F・血ガス</c:v>
                  </c:pt>
                  <c:pt idx="5">
                    <c:v>輸液シート</c:v>
                  </c:pt>
                  <c:pt idx="6">
                    <c:v>検索</c:v>
                  </c:pt>
                  <c:pt idx="7">
                    <c:v>by system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18</c:v>
                </c:pt>
                <c:pt idx="2">
                  <c:v>15</c:v>
                </c:pt>
                <c:pt idx="3">
                  <c:v>14</c:v>
                </c:pt>
                <c:pt idx="4">
                  <c:v>10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A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414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2414C"/>
                </a:solidFill>
                <a:latin typeface="+mn-lt"/>
              </a:rPr>
              <a:t>自信の平均点（1〜5・仮）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事前</c:v>
                </c:pt>
              </c:strCache>
            </c:strRef>
          </c:tx>
          <c:spPr>
            <a:solidFill>
              <a:srgbClr val="6B7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γ 計算</c:v>
                  </c:pt>
                  <c:pt idx="1">
                    <c:v>配合変化</c:v>
                  </c:pt>
                  <c:pt idx="2">
                    <c:v>血ガス</c:v>
                  </c:pt>
                  <c:pt idx="3">
                    <c:v>P/F</c:v>
                  </c:pt>
                  <c:pt idx="4">
                    <c:v>スコア</c:v>
                  </c:pt>
                  <c:pt idx="5">
                    <c:v>IN/OUT</c:v>
                  </c:pt>
                  <c:pt idx="6">
                    <c:v>人工呼吸器</c:v>
                  </c:pt>
                  <c:pt idx="7">
                    <c:v>補助循環</c:v>
                  </c:pt>
                  <c:pt idx="8">
                    <c:v>人を呼ぶ判断</c:v>
                  </c:pt>
                  <c:pt idx="9">
                    <c:v>by system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3.1</c:v>
                </c:pt>
                <c:pt idx="1">
                  <c:v>2.4</c:v>
                </c:pt>
                <c:pt idx="2">
                  <c:v>2.8</c:v>
                </c:pt>
                <c:pt idx="3">
                  <c:v>3</c:v>
                </c:pt>
                <c:pt idx="4">
                  <c:v>3.4</c:v>
                </c:pt>
                <c:pt idx="5">
                  <c:v>3.2</c:v>
                </c:pt>
                <c:pt idx="6">
                  <c:v>2.6</c:v>
                </c:pt>
                <c:pt idx="7">
                  <c:v>2.2</c:v>
                </c:pt>
                <c:pt idx="8">
                  <c:v>3</c:v>
                </c:pt>
                <c:pt idx="9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週間後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γ 計算</c:v>
                  </c:pt>
                  <c:pt idx="1">
                    <c:v>配合変化</c:v>
                  </c:pt>
                  <c:pt idx="2">
                    <c:v>血ガス</c:v>
                  </c:pt>
                  <c:pt idx="3">
                    <c:v>P/F</c:v>
                  </c:pt>
                  <c:pt idx="4">
                    <c:v>スコア</c:v>
                  </c:pt>
                  <c:pt idx="5">
                    <c:v>IN/OUT</c:v>
                  </c:pt>
                  <c:pt idx="6">
                    <c:v>人工呼吸器</c:v>
                  </c:pt>
                  <c:pt idx="7">
                    <c:v>補助循環</c:v>
                  </c:pt>
                  <c:pt idx="8">
                    <c:v>人を呼ぶ判断</c:v>
                  </c:pt>
                  <c:pt idx="9">
                    <c:v>by system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3.9</c:v>
                </c:pt>
                <c:pt idx="1">
                  <c:v>3.5</c:v>
                </c:pt>
                <c:pt idx="2">
                  <c:v>3.3</c:v>
                </c:pt>
                <c:pt idx="3">
                  <c:v>3.6</c:v>
                </c:pt>
                <c:pt idx="4">
                  <c:v>3.9</c:v>
                </c:pt>
                <c:pt idx="5">
                  <c:v>3.6</c:v>
                </c:pt>
                <c:pt idx="6">
                  <c:v>3.2</c:v>
                </c:pt>
                <c:pt idx="7">
                  <c:v>2.7</c:v>
                </c:pt>
                <c:pt idx="8">
                  <c:v>3.5</c:v>
                </c:pt>
                <c:pt idx="9">
                  <c:v>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F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1"/>
        </c:scaling>
        <c:delete val="0"/>
        <c:axPos val="l"/>
        <c:majorGridlines>
          <c:spPr>
            <a:ln w="6350" cap="flat">
              <a:solidFill>
                <a:srgbClr val="EA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タイトル。発表会名と日付は差し替え。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背景。右の数字は事前アンケートの集計で差し替える。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目的と、方法の 3 本柱。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アプリの中身。数字は発表時点のものに更新する。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作り方。生成 AI を使ったことは隠さず、内容の担保の方法とセットで説明する。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評価方法。配布日は決まり次第入れる。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事後アンケート Q3・Q5 と利用の記録を集計して差し替える。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事前・事後の★設問を比較。経験年数別の内訳は補足スライドか口頭で。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自由記述。Q17 で引用可と答えた人のものだけを使う。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考察。結果が出たら「仮」を外し、数字で言い換える。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限界と今後。質疑で聞かれそうな点を先に言う。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結論。QR を出して終わる。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41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熊本労災病院 ICU　小山田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AF3F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熊本労災病院 ICU　小山田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2414C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AF3F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ICU 看護師のための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ベッドサイド支援 Web アプリの開発と導入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計算・スコア・知識・当院の運用を、スマホ 1 つに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熊本労災病院　ICU　小山田 光希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看護部 ○○発表会　2026 年 ○月 ○日</a:t>
            </a:r>
            <a:endParaRPr lang="en-US" sz="1200" dirty="0"/>
          </a:p>
        </p:txBody>
      </p:sp>
      <p:pic>
        <p:nvPicPr>
          <p:cNvPr id="6" name="Image 0" descr="/home/claude/kit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20040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75120" y="4526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koki2983.github.io/icu-tool/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AF3F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背景：ICU の「その場で調べる」は散らばっている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📚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根拠が 4 か所に散在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727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書籍・紙マニュアル・先輩の記憶・個人のメモ。同じ質問に人によって答えが違う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🧮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計算と判定はベッドサイドで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700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γ 計算、配合変化、P/F 比、スコア判定。急ぐときほど電卓とメモになる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83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新卒 ICU 配属が始まった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767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「何を・どこで調べればいいか」で止まる。先輩に聞く回数が増え、双方の負担になる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1188720"/>
            <a:ext cx="2926080" cy="320040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事前アンケートより（仮）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17373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○ 回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423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勤務あたり調べる回数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834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○ 分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 回にかかる時間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【仮置き：集計後に差し替え】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目的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ICU で必要な「計算・スコア・知識・当院の運用」を 1 つにまとめた Web アプリを作り、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ICU 看護師全員で 4 週間試用して、調べものの実態と自信の変化、使いやすさと課題を評価する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① 作る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スマホで開ける、ログイン不要、患者情報を扱わない。内容はガイドラインと公開文献、当院の基準を反映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28346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② 配る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ICU 看護師 26 名に QR カードで配布。ホーム画面に追加して「アプリのように」使う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283464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9443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③ 評価する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配布の前後でアンケート（調べる回数・時間・手段・自信）＋アプリ内の利用の記録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方法①　作ったもの：ICU ツール（Web アプリ）</a:t>
            </a:r>
            <a:endParaRPr lang="en-US" sz="2600" dirty="0"/>
          </a:p>
        </p:txBody>
      </p:sp>
      <p:pic>
        <p:nvPicPr>
          <p:cNvPr id="3" name="Image 0" descr="/home/claude/kit/s_ca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1645920" cy="3383280"/>
          </a:xfrm>
          <a:prstGeom prst="rect">
            <a:avLst/>
          </a:prstGeom>
        </p:spPr>
      </p:pic>
      <p:pic>
        <p:nvPicPr>
          <p:cNvPr id="4" name="Image 1" descr="/home/claude/kit/s_kn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097280"/>
            <a:ext cx="1645920" cy="3383280"/>
          </a:xfrm>
          <a:prstGeom prst="rect">
            <a:avLst/>
          </a:prstGeom>
        </p:spPr>
      </p:pic>
      <p:pic>
        <p:nvPicPr>
          <p:cNvPr id="5" name="Image 2" descr="/home/claude/kit/s_sco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097280"/>
            <a:ext cx="1645920" cy="338328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4507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計算（γ・配合変化・P/F ほか）</a:t>
            </a:r>
            <a:endParaRPr lang="en-US" sz="800" dirty="0"/>
          </a:p>
        </p:txBody>
      </p:sp>
      <p:sp>
        <p:nvSpPr>
          <p:cNvPr id="7" name="Text 2"/>
          <p:cNvSpPr txBox="1"/>
          <p:nvPr/>
        </p:nvSpPr>
        <p:spPr>
          <a:xfrm>
            <a:off x="2240280" y="4507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知識（図つき・当院の運用）</a:t>
            </a:r>
            <a:endParaRPr lang="en-US" sz="800" dirty="0"/>
          </a:p>
        </p:txBody>
      </p:sp>
      <p:sp>
        <p:nvSpPr>
          <p:cNvPr id="8" name="Text 3"/>
          <p:cNvSpPr txBox="1"/>
          <p:nvPr/>
        </p:nvSpPr>
        <p:spPr>
          <a:xfrm>
            <a:off x="4023360" y="45079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5"/>
                </a:solidFill>
              </a:rPr>
              <a:t>スコア（基準を選ぶだけ）</a:t>
            </a:r>
            <a:endParaRPr lang="en-US" sz="800" dirty="0"/>
          </a:p>
        </p:txBody>
      </p:sp>
      <p:sp>
        <p:nvSpPr>
          <p:cNvPr id="9" name="Text 4"/>
          <p:cNvSpPr txBox="1"/>
          <p:nvPr/>
        </p:nvSpPr>
        <p:spPr>
          <a:xfrm>
            <a:off x="5852160" y="1143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20</a:t>
            </a:r>
            <a:endParaRPr lang="en-US" sz="4000" dirty="0"/>
          </a:p>
        </p:txBody>
      </p:sp>
      <p:sp>
        <p:nvSpPr>
          <p:cNvPr id="10" name="Text 5"/>
          <p:cNvSpPr txBox="1"/>
          <p:nvPr/>
        </p:nvSpPr>
        <p:spPr>
          <a:xfrm>
            <a:off x="585216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計算ツール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7315200" y="1143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8</a:t>
            </a:r>
            <a:endParaRPr lang="en-US" sz="4000" dirty="0"/>
          </a:p>
        </p:txBody>
      </p:sp>
      <p:sp>
        <p:nvSpPr>
          <p:cNvPr id="12" name="Text 7"/>
          <p:cNvSpPr txBox="1"/>
          <p:nvPr/>
        </p:nvSpPr>
        <p:spPr>
          <a:xfrm>
            <a:off x="73152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スコア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585216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71</a:t>
            </a:r>
            <a:endParaRPr lang="en-US" sz="4000" dirty="0"/>
          </a:p>
        </p:txBody>
      </p:sp>
      <p:sp>
        <p:nvSpPr>
          <p:cNvPr id="14" name="Text 9"/>
          <p:cNvSpPr txBox="1"/>
          <p:nvPr/>
        </p:nvSpPr>
        <p:spPr>
          <a:xfrm>
            <a:off x="585216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知識メモ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399</a:t>
            </a:r>
            <a:endParaRPr lang="en-US" sz="40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0" y="2971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用語集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5852160" y="3474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当院の運用 6 項目：心外帰室の流れ、TTM、配合変化表（46 剤）、抗菌薬 × 輸液、嚥下スクリーニング、ECMO 画面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852160" y="4114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ほかに：輸液シート、by system 申し送りシート、全文検索、各項目への直リンク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方法②　作り方と、内容の担保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仕組み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 枚の HTML ファイル。GitHub Pages で公開（無料）。iPhone・Android のブラウザで動き、ホーム画面に追加するとアプリのように使える。サーバーなし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14300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内容の根拠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002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ガイドライン（JSICM・JCS・BTF・NICE ほか）と公開文献、JACCN クイックガイド。当院の基準は薬剤部の表・院内プロトコルを反映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143000"/>
            <a:ext cx="26517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生成 AI の使い方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002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コードと文章の下書きに生成 AI（Claude）を使用。内容は作成者が確認し、試用者からの指摘で修正。出典を各項目に明記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26517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安全への配慮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患者が特定できる情報は入力しない設計（入力欄はベッド番号まで）。保存は端末内のみ。数値は「目安」で、当院の基準と医師の指示が優先と各所に明記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46120" y="3017520"/>
            <a:ext cx="5440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2900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開発の流れ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49040" y="35661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3703320"/>
            <a:ext cx="7772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9 月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第 1 版（γ 計算・希釈・スコア）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00600" y="35661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3703320"/>
            <a:ext cx="7772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9〜10 月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公開、知識 70 項目、8 名が試用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52160" y="35661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3703320"/>
            <a:ext cx="7772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10 月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当院の運用・配合変化表を反映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03720" y="35661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3703320"/>
            <a:ext cx="7772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11 月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ICU 全員に配布・評価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955280" y="35661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35240" y="3886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2"/>
                </a:solidFill>
              </a:rPr>
              <a:t>12 月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4114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集計・発表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方法③　評価の方法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対象と期間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当院 ICU の看護師 26 名（1 年目〜）。2026 年 ○月 ○日に配布し、4 週間試用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倫理的配慮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無記名（経験年数のみ）。回答は任意で、評価・勤務に影響しないことを明記。所属長の了承を得て実施。患者情報は扱わない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82296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880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前後比較（事前 → 4 週間後に同じ設問）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23444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33649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調べる回数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 勤務あたり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84248" y="3291840"/>
            <a:ext cx="123444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057400" y="33649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調べる時間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1 回あたり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28416" y="3291840"/>
            <a:ext cx="123444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01568" y="33649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調べる手段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401568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先輩に聞く／アプリ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72584" y="3291840"/>
            <a:ext cx="123444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45736" y="33649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自信（10 項目）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45736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5 段階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16752" y="3291840"/>
            <a:ext cx="123444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89904" y="33649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あいまいなまま進めた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089904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直近 1 か月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60920" y="3291840"/>
            <a:ext cx="1234440" cy="1143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34072" y="33649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利用の記録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34072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端末内の回数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結果①　利用状況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73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【仮置き：集計後に差し替え】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9728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結果②　配布の前後で変わったこと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73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【仮置き：集計後に差し替え】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09360" y="1207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調べる回数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○ 回 → ○ 回／勤務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26480" y="233172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24414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回の時間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○ 分 → ○ 分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26480" y="3566160"/>
            <a:ext cx="2560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09360" y="3675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先輩に聞く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○ 人 → ○ 人（手段として選択）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結果③　役に立った場面・課題（自由記述）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760720" y="73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【仮置き：引用可の回答から選ぶ】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39496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97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「ノルアドの流量変更のとき、γ をその場で確認できて、桁の間違いに気づけた」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270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（3 年目・仮）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856232"/>
            <a:ext cx="539496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11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「配合変化表を見て、薬剤部に電話せずに側管の可否を判断できた」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（6 年目以上・仮）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569464"/>
            <a:ext cx="539496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24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「人工呼吸器の図を 1 年目に見せながら説明した。自分の説明が整理された」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535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（4〜6 年目・仮）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539496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「夜勤で“いつ人を呼ぶか”の目安を見て、早めに報告できた」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6674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（1 年目・仮）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114300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使いにくかった点（仮）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・開くまでの手順が分かりにくい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・知識が多くて目当てに届きにくい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2651760"/>
            <a:ext cx="26517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0" y="27614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追加の要望（仮）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3108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・当院の希釈表の全薬剤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・病棟ごとの運用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・画像をもっと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考察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44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根拠が 1 か所に集まった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調べる時間と「先輩に聞く」回数が減り、聞かれる側の負担も減った。答えが人によって違う、が減る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1344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新人に効いた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74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自信の上昇幅は経験年数が浅いほど大きい（仮）。「調べ方の型」を持てることが、知識そのものより大きい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当院の運用を載せられた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配合変化表・嚥下スクリーニング・帰室の流れ。ガイドラインと当院の決まりを同じ画面で見られる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内容の責任は人が持つ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57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生成 AI は下書きの道具。出典の明記、試用者の指摘、当院基準優先の注記で担保した。それでも誤りはありうる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2414C"/>
                </a:solidFill>
              </a:rPr>
              <a:t>限界と今後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限界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・1 部署・26 名・4 週間の前後比較で、対照群はない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・自己申告の変化で、インシデントや記録の質は測っていない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・内容の更新と責任が作成者 1 人に集中している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・患者情報を扱えないので、電子カルテの代わりにはならない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・端末ごとの保存で、データの共有はできない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527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今後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・教育チェックリストと知識を連動（項目から該当ページへ直リンク）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・効果の測定：インシデント件数、スコアの記録率、新人の到達度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・院内の公式ツールとして承認を得る（内容の確認体制、更新の手順）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・看護部全体への展開：部署ごとの運用ページ、共有の仕組み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・院内手順との整合（ナーシング・スキルとの照合）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結論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ICU で必要な計算・スコア・知識・当院の運用を 1 つにまとめた Web アプリを作り、ICU 全員で試用した。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調べる時間と「先輩に聞く」回数が減り、自信は特に経験の浅い看護師で上がった（仮）。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内容の責任と更新の体制を整え、教育チェックリストとの連動と看護部全体への展開を進める。</a:t>
            </a:r>
            <a:endParaRPr lang="en-US" sz="1600" dirty="0"/>
          </a:p>
        </p:txBody>
      </p:sp>
      <p:pic>
        <p:nvPicPr>
          <p:cNvPr id="6" name="Image 0" descr="/home/claude/kit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29184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0" y="3749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今日から使えます →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AF3F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U Tool">
  <a:themeElements>
    <a:clrScheme name="ICU Tool">
      <a:dk1>
        <a:srgbClr val="1F2A30"/>
      </a:dk1>
      <a:lt1>
        <a:srgbClr val="FFFFFF"/>
      </a:lt1>
      <a:dk2>
        <a:srgbClr val="12414C"/>
      </a:dk2>
      <a:lt2>
        <a:srgbClr val="EAF3F5"/>
      </a:lt2>
      <a:accent1>
        <a:srgbClr val="1F7A8C"/>
      </a:accent1>
      <a:accent2>
        <a:srgbClr val="E0A030"/>
      </a:accent2>
      <a:accent3>
        <a:srgbClr val="C0392B"/>
      </a:accent3>
      <a:accent4>
        <a:srgbClr val="2E7D32"/>
      </a:accent4>
      <a:accent5>
        <a:srgbClr val="6B7A80"/>
      </a:accent5>
      <a:accent6>
        <a:srgbClr val="8E44AD"/>
      </a:accent6>
      <a:hlink>
        <a:srgbClr val="1F7A8C"/>
      </a:hlink>
      <a:folHlink>
        <a:srgbClr val="6B7A80"/>
      </a:folHlink>
    </a:clrScheme>
    <a:fontScheme name="ICU Tool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ICU 看護師のためのベッドサイド支援 Web アプリの開発と導入</dc:title>
  <dc:subject>PptxGenJS Presentation</dc:subject>
  <dc:creator>小山田 光希</dc:creator>
  <cp:lastModifiedBy>小山田 光希</cp:lastModifiedBy>
  <cp:revision>1</cp:revision>
  <dcterms:created xsi:type="dcterms:W3CDTF">2026-10-27T13:46:59Z</dcterms:created>
  <dcterms:modified xsi:type="dcterms:W3CDTF">2026-10-27T13:46:59Z</dcterms:modified>
</cp:coreProperties>
</file>